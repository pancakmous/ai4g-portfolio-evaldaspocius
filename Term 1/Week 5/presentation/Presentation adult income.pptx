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5D7BA"/>
          </a:solidFill>
          <a:ln w="12700">
            <a:solidFill>
              <a:srgbClr val="55D7B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3511296" cy="6858000"/>
          </a:xfrm>
          <a:prstGeom prst="rect">
            <a:avLst/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 /  SDG 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 Income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Showdown: KNN · Logistic Regression · Random Forest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806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UCI Adult dataset  |  32,561 records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7BA"/>
          </a:solidFill>
          <a:ln w="12700">
            <a:solidFill>
              <a:srgbClr val="55D7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 INCOME  /  MODEL SHOWDOWN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prediction challenge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72184"/>
            <a:ext cx="11064240" cy="10973"/>
          </a:xfrm>
          <a:prstGeom prst="rect">
            <a:avLst/>
          </a:prstGeom>
          <a:solidFill>
            <a:srgbClr val="263448"/>
          </a:solidFill>
          <a:ln w="12700">
            <a:solidFill>
              <a:srgbClr val="2634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5952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47088"/>
            <a:ext cx="5413248" cy="3383280"/>
          </a:xfrm>
          <a:prstGeom prst="roundRect">
            <a:avLst>
              <a:gd name="adj" fmla="val 3784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47088"/>
            <a:ext cx="41148" cy="3383280"/>
          </a:xfrm>
          <a:prstGeom prst="rect">
            <a:avLst/>
          </a:prstGeom>
          <a:solidFill>
            <a:srgbClr val="55D7BA"/>
          </a:solidFill>
          <a:ln w="12700">
            <a:solidFill>
              <a:srgbClr val="55D7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3911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" y="2551176"/>
            <a:ext cx="491947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demographic and employment-related attributes predict whether annual income exceeds $50,000?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9632" y="1847088"/>
            <a:ext cx="5330952" cy="3383280"/>
          </a:xfrm>
          <a:prstGeom prst="roundRect">
            <a:avLst>
              <a:gd name="adj" fmla="val 3784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1847088"/>
            <a:ext cx="41148" cy="3383280"/>
          </a:xfrm>
          <a:prstGeom prst="rect">
            <a:avLst/>
          </a:prstGeom>
          <a:solidFill>
            <a:srgbClr val="59B8E8"/>
          </a:solidFill>
          <a:ln w="12700">
            <a:solidFill>
              <a:srgbClr val="59B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039112"/>
            <a:ext cx="4837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46520" y="2551176"/>
            <a:ext cx="48371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SDG 8: Decent Work and Economic Growth. Income patterns can be studied, but predictions do not explain the causes of inequality.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6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 ≤$50K  vs  &gt;$50K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7BA"/>
          </a:solidFill>
          <a:ln w="12700">
            <a:solidFill>
              <a:srgbClr val="55D7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 INCOME  /  MODEL SHOWDOWN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72184"/>
            <a:ext cx="11064240" cy="10973"/>
          </a:xfrm>
          <a:prstGeom prst="rect">
            <a:avLst/>
          </a:prstGeom>
          <a:solidFill>
            <a:srgbClr val="263448"/>
          </a:solidFill>
          <a:ln w="12700">
            <a:solidFill>
              <a:srgbClr val="2634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5952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2624328" cy="1325880"/>
          </a:xfrm>
          <a:prstGeom prst="roundRect">
            <a:avLst>
              <a:gd name="adj" fmla="val 8276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66544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32,561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31520" y="263347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93008" y="1847088"/>
            <a:ext cx="2624328" cy="1325880"/>
          </a:xfrm>
          <a:prstGeom prst="roundRect">
            <a:avLst>
              <a:gd name="adj" fmla="val 8276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2066544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3584448" y="263347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features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45936" y="1847088"/>
            <a:ext cx="2624328" cy="1325880"/>
          </a:xfrm>
          <a:prstGeom prst="roundRect">
            <a:avLst>
              <a:gd name="adj" fmla="val 8276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2066544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75.9%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437376" y="263347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≤$50K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98864" y="1847088"/>
            <a:ext cx="2624328" cy="1325880"/>
          </a:xfrm>
          <a:prstGeom prst="roundRect">
            <a:avLst>
              <a:gd name="adj" fmla="val 8276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0304" y="2066544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24.1%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290304" y="263347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&gt;$50K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493008"/>
            <a:ext cx="5440680" cy="1993392"/>
          </a:xfrm>
          <a:prstGeom prst="roundRect">
            <a:avLst>
              <a:gd name="adj" fmla="val 6422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493008"/>
            <a:ext cx="41148" cy="1993392"/>
          </a:xfrm>
          <a:prstGeom prst="rect">
            <a:avLst/>
          </a:prstGeom>
          <a:solidFill>
            <a:srgbClr val="59B8E8"/>
          </a:solidFill>
          <a:ln w="12700">
            <a:solidFill>
              <a:srgbClr val="59B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3685032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86968" y="4197096"/>
            <a:ext cx="49469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education, workclass, occupation, weekly hours, capital gain/loss and demographics.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3640" y="3493008"/>
            <a:ext cx="5257800" cy="1993392"/>
          </a:xfrm>
          <a:prstGeom prst="roundRect">
            <a:avLst>
              <a:gd name="adj" fmla="val 6422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3493008"/>
            <a:ext cx="41148" cy="1993392"/>
          </a:xfrm>
          <a:prstGeom prst="rect">
            <a:avLst/>
          </a:prstGeom>
          <a:solidFill>
            <a:srgbClr val="55D7BA"/>
          </a:solidFill>
          <a:ln w="12700">
            <a:solidFill>
              <a:srgbClr val="55D7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3685032"/>
            <a:ext cx="476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10528" y="4197096"/>
            <a:ext cx="47640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 occur in workclass, occupation and native_country. The target classes are imbalanced.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59253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UCI Machine Learning Repository — Adult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7BA"/>
          </a:solidFill>
          <a:ln w="12700">
            <a:solidFill>
              <a:srgbClr val="55D7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 INCOME  /  MODEL SHOWDOWN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trained the models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72184"/>
            <a:ext cx="11064240" cy="10973"/>
          </a:xfrm>
          <a:prstGeom prst="rect">
            <a:avLst/>
          </a:prstGeom>
          <a:solidFill>
            <a:srgbClr val="263448"/>
          </a:solidFill>
          <a:ln w="12700">
            <a:solidFill>
              <a:srgbClr val="2634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5952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10771632" cy="850392"/>
          </a:xfrm>
          <a:prstGeom prst="roundRect">
            <a:avLst>
              <a:gd name="adj" fmla="val 10753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1109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18928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80/20 split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120640" y="190195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Stratified; random_state = 42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10771632" cy="850392"/>
          </a:xfrm>
          <a:prstGeom prst="roundRect">
            <a:avLst>
              <a:gd name="adj" fmla="val 10753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1693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28800" y="28986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120640" y="290779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Imputation + scaling / one-hot encoding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5800" y="3794760"/>
            <a:ext cx="10771632" cy="850392"/>
          </a:xfrm>
          <a:prstGeom prst="roundRect">
            <a:avLst>
              <a:gd name="adj" fmla="val 10753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2277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0" y="3904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tuning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120640" y="391363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GridSearchCV; 5 stratified folds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85800" y="4800600"/>
            <a:ext cx="10771632" cy="850392"/>
          </a:xfrm>
          <a:prstGeom prst="roundRect">
            <a:avLst>
              <a:gd name="adj" fmla="val 10753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92861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828800" y="4910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evaluation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120640" y="491947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· Recall · F1 · Confusion matrix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59893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metric: F1-score for the &gt;$50K class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7BA"/>
          </a:solidFill>
          <a:ln w="12700">
            <a:solidFill>
              <a:srgbClr val="55D7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 INCOME  /  MODEL SHOWDOWN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models, one baseline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72184"/>
            <a:ext cx="11064240" cy="10973"/>
          </a:xfrm>
          <a:prstGeom prst="rect">
            <a:avLst/>
          </a:prstGeom>
          <a:solidFill>
            <a:srgbClr val="263448"/>
          </a:solidFill>
          <a:ln w="12700">
            <a:solidFill>
              <a:srgbClr val="2634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5952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47088"/>
            <a:ext cx="2660904" cy="3136392"/>
          </a:xfrm>
          <a:prstGeom prst="roundRect">
            <a:avLst>
              <a:gd name="adj" fmla="val 4811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47088"/>
            <a:ext cx="41148" cy="3136392"/>
          </a:xfrm>
          <a:prstGeom prst="rect">
            <a:avLst/>
          </a:prstGeom>
          <a:solidFill>
            <a:srgbClr val="A9BCD1"/>
          </a:solidFill>
          <a:ln w="12700">
            <a:solidFill>
              <a:srgbClr val="A9BC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039112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Dummy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05256" y="2551176"/>
            <a:ext cx="216712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predicts the majority class. F1 = 0.000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47288" y="1847088"/>
            <a:ext cx="2660904" cy="3136392"/>
          </a:xfrm>
          <a:prstGeom prst="roundRect">
            <a:avLst>
              <a:gd name="adj" fmla="val 4811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1847088"/>
            <a:ext cx="41148" cy="3136392"/>
          </a:xfrm>
          <a:prstGeom prst="rect">
            <a:avLst/>
          </a:prstGeom>
          <a:solidFill>
            <a:srgbClr val="59B8E8"/>
          </a:solidFill>
          <a:ln w="12700">
            <a:solidFill>
              <a:srgbClr val="59B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2039112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94176" y="2551176"/>
            <a:ext cx="216712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nearest neighbors. Best n_neighbors = 15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36208" y="1847088"/>
            <a:ext cx="2660904" cy="3136392"/>
          </a:xfrm>
          <a:prstGeom prst="roundRect">
            <a:avLst>
              <a:gd name="adj" fmla="val 4811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6208" y="1847088"/>
            <a:ext cx="41148" cy="3136392"/>
          </a:xfrm>
          <a:prstGeom prst="rect">
            <a:avLst/>
          </a:prstGeom>
          <a:solidFill>
            <a:srgbClr val="55D7BA"/>
          </a:solidFill>
          <a:ln w="12700">
            <a:solidFill>
              <a:srgbClr val="55D7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2039112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83096" y="2551176"/>
            <a:ext cx="216712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regularization. Best C = 10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25128" y="1847088"/>
            <a:ext cx="2496312" cy="3136392"/>
          </a:xfrm>
          <a:prstGeom prst="roundRect">
            <a:avLst>
              <a:gd name="adj" fmla="val 5128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5128" y="1847088"/>
            <a:ext cx="41148" cy="3136392"/>
          </a:xfrm>
          <a:prstGeom prst="rect">
            <a:avLst/>
          </a:prstGeom>
          <a:solidFill>
            <a:srgbClr val="F6C86A"/>
          </a:solidFill>
          <a:ln w="12700">
            <a:solidFill>
              <a:srgbClr val="F6C8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72016" y="203911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Forest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72016" y="2551176"/>
            <a:ext cx="2002536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trees; max_depth = 20; min_samples_leaf = 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55138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train/test split and preprocessing framework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7BA"/>
          </a:solidFill>
          <a:ln w="12700">
            <a:solidFill>
              <a:srgbClr val="55D7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 INCOME  /  MODEL SHOWDOWN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results: F1-score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72184"/>
            <a:ext cx="11064240" cy="10973"/>
          </a:xfrm>
          <a:prstGeom prst="rect">
            <a:avLst/>
          </a:prstGeom>
          <a:solidFill>
            <a:srgbClr val="263448"/>
          </a:solidFill>
          <a:ln w="12700">
            <a:solidFill>
              <a:srgbClr val="2634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5952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85032" y="1947672"/>
            <a:ext cx="6784848" cy="338328"/>
          </a:xfrm>
          <a:prstGeom prst="roundRect">
            <a:avLst>
              <a:gd name="adj" fmla="val 27027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34472" y="187452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770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685032" y="2843784"/>
            <a:ext cx="6784848" cy="338328"/>
          </a:xfrm>
          <a:prstGeom prst="roundRect">
            <a:avLst>
              <a:gd name="adj" fmla="val 27027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85032" y="2843784"/>
            <a:ext cx="5943527" cy="338328"/>
          </a:xfrm>
          <a:prstGeom prst="roundRect">
            <a:avLst>
              <a:gd name="adj" fmla="val 27027"/>
            </a:avLst>
          </a:prstGeom>
          <a:solidFill>
            <a:srgbClr val="59B8E8"/>
          </a:solidFill>
          <a:ln w="12700">
            <a:solidFill>
              <a:srgbClr val="59B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34472" y="2770632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9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36667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685032" y="3739896"/>
            <a:ext cx="6784848" cy="338328"/>
          </a:xfrm>
          <a:prstGeom prst="roundRect">
            <a:avLst>
              <a:gd name="adj" fmla="val 27027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85032" y="3739896"/>
            <a:ext cx="6088270" cy="338328"/>
          </a:xfrm>
          <a:prstGeom prst="roundRect">
            <a:avLst>
              <a:gd name="adj" fmla="val 27027"/>
            </a:avLst>
          </a:prstGeom>
          <a:solidFill>
            <a:srgbClr val="55D7BA"/>
          </a:solidFill>
          <a:ln w="12700">
            <a:solidFill>
              <a:srgbClr val="55D7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34472" y="3666744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45628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3685032" y="4636008"/>
            <a:ext cx="6784848" cy="338328"/>
          </a:xfrm>
          <a:prstGeom prst="roundRect">
            <a:avLst>
              <a:gd name="adj" fmla="val 27027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85032" y="4636008"/>
            <a:ext cx="6287292" cy="338328"/>
          </a:xfrm>
          <a:prstGeom prst="roundRect">
            <a:avLst>
              <a:gd name="adj" fmla="val 27027"/>
            </a:avLst>
          </a:prstGeom>
          <a:solidFill>
            <a:srgbClr val="F6C86A"/>
          </a:solidFill>
          <a:ln w="12700">
            <a:solidFill>
              <a:srgbClr val="F6C8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34472" y="4562856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6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" y="579729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achieved the highest held-out test F1-score (0.695).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7BA"/>
          </a:solidFill>
          <a:ln w="12700">
            <a:solidFill>
              <a:srgbClr val="55D7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 INCOME  /  MODEL SHOWDOWN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and example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72184"/>
            <a:ext cx="11064240" cy="10973"/>
          </a:xfrm>
          <a:prstGeom prst="rect">
            <a:avLst/>
          </a:prstGeom>
          <a:solidFill>
            <a:srgbClr val="263448"/>
          </a:solidFill>
          <a:ln w="12700">
            <a:solidFill>
              <a:srgbClr val="2634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5952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5440680" cy="3364992"/>
          </a:xfrm>
          <a:prstGeom prst="roundRect">
            <a:avLst>
              <a:gd name="adj" fmla="val 3804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10512"/>
            <a:ext cx="41148" cy="3364992"/>
          </a:xfrm>
          <a:prstGeom prst="rect">
            <a:avLst/>
          </a:prstGeom>
          <a:solidFill>
            <a:srgbClr val="F6C86A"/>
          </a:solidFill>
          <a:ln w="12700">
            <a:solidFill>
              <a:srgbClr val="F6C8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002536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measured F1: Random Forest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6968" y="2514600"/>
            <a:ext cx="4946904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0.790  |  Recall 0.621  |  F1 0.695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recorded score, but model complexity can make explanations harder.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1810512"/>
            <a:ext cx="5257800" cy="3364992"/>
          </a:xfrm>
          <a:prstGeom prst="roundRect">
            <a:avLst>
              <a:gd name="adj" fmla="val 3804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810512"/>
            <a:ext cx="41148" cy="3364992"/>
          </a:xfrm>
          <a:prstGeom prst="rect">
            <a:avLst/>
          </a:prstGeom>
          <a:solidFill>
            <a:srgbClr val="55D7BA"/>
          </a:solidFill>
          <a:ln w="12700">
            <a:solidFill>
              <a:srgbClr val="55D7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002536"/>
            <a:ext cx="4764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model: Logistic Regression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10528" y="2514600"/>
            <a:ext cx="4764024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0.740  |  Recall 0.617  |  F1 0.673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in the notebook for a new-person prediction: &gt;$50K, estimated probability 0.56.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5577840"/>
            <a:ext cx="10607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depends on the trade-off between predictive performance and interpretability.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5D7BA"/>
          </a:solidFill>
          <a:ln w="12700">
            <a:solidFill>
              <a:srgbClr val="55D7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55D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 INCOME  /  MODEL SHOWDOWN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interpretation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72184"/>
            <a:ext cx="11064240" cy="10973"/>
          </a:xfrm>
          <a:prstGeom prst="rect">
            <a:avLst/>
          </a:prstGeom>
          <a:solidFill>
            <a:srgbClr val="263448"/>
          </a:solidFill>
          <a:ln w="12700">
            <a:solidFill>
              <a:srgbClr val="2634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5952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9224" y="1828800"/>
            <a:ext cx="5431536" cy="3200400"/>
          </a:xfrm>
          <a:prstGeom prst="roundRect">
            <a:avLst>
              <a:gd name="adj" fmla="val 4000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828800"/>
            <a:ext cx="41148" cy="3200400"/>
          </a:xfrm>
          <a:prstGeom prst="rect">
            <a:avLst/>
          </a:prstGeom>
          <a:solidFill>
            <a:srgbClr val="59B8E8"/>
          </a:solidFill>
          <a:ln w="12700">
            <a:solidFill>
              <a:srgbClr val="59B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208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6112" y="2532888"/>
            <a:ext cx="4937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income patterns are not causal explanations. Class imbalance means accuracy alone can mislead. No demonstrated external or modern-dataset validation.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45352" y="1828800"/>
            <a:ext cx="5276088" cy="3200400"/>
          </a:xfrm>
          <a:prstGeom prst="roundRect">
            <a:avLst>
              <a:gd name="adj" fmla="val 4000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1828800"/>
            <a:ext cx="41148" cy="3200400"/>
          </a:xfrm>
          <a:prstGeom prst="rect">
            <a:avLst/>
          </a:prstGeom>
          <a:solidFill>
            <a:srgbClr val="55D7BA"/>
          </a:solidFill>
          <a:ln w="12700">
            <a:solidFill>
              <a:srgbClr val="55D7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20824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Ethical risks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2532888"/>
            <a:ext cx="47823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C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Demographic attributes may reflect historical inequality. Fairness between groups has not yet been established. Avoid consequential individual decisions.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" y="5541264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Conclusion: meaningful model comparison — not a tool for making real-world decisions about people.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Adult Income Classification — Model Showdown</dc:title>
  <dc:subject>Machine learning project presentation</dc:subject>
  <dc:creator>Adult Income Model Showdown</dc:creator>
  <cp:lastModifiedBy>Adult Income Model Showdown</cp:lastModifiedBy>
  <cp:revision>1</cp:revision>
  <dcterms:created xsi:type="dcterms:W3CDTF">2026-10-08T18:18:16Z</dcterms:created>
  <dcterms:modified xsi:type="dcterms:W3CDTF">2026-10-08T18:18:16Z</dcterms:modified>
</cp:coreProperties>
</file>